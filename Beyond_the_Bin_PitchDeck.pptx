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5051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CUHK DATA HACK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</a:t>
            </a:r>
            <a:endParaRPr lang="en-US" sz="6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Loop Challenge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· SDG 12 · March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"/>
            <a:ext cx="2743200" cy="4754880"/>
          </a:xfrm>
          <a:prstGeom prst="rect">
            <a:avLst/>
          </a:prstGeom>
          <a:solidFill>
            <a:srgbClr val="0A0E3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71600"/>
            <a:ext cx="182880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Kong's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Desert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457200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8B9A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11680" y="4572000"/>
            <a:ext cx="1645920" cy="32004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8B9A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8,858 Points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1A3C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Surface Story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 glance, Hong Kong's recycling coverage looks comprehensive.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1920240" cy="54864"/>
          </a:xfrm>
          <a:prstGeom prst="rect">
            <a:avLst/>
          </a:prstGeom>
          <a:solidFill>
            <a:srgbClr val="1A3CF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C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8,858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64592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645920"/>
            <a:ext cx="1920240" cy="54864"/>
          </a:xfrm>
          <a:prstGeom prst="rect">
            <a:avLst/>
          </a:prstGeom>
          <a:solidFill>
            <a:srgbClr val="1A3CFA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C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606040" y="2697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45920"/>
            <a:ext cx="1920240" cy="54864"/>
          </a:xfrm>
          <a:prstGeom prst="rect">
            <a:avLst/>
          </a:prstGeom>
          <a:solidFill>
            <a:srgbClr val="1A3C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C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754880" y="2697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64592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645920"/>
            <a:ext cx="1920240" cy="54864"/>
          </a:xfrm>
          <a:prstGeom prst="rect">
            <a:avLst/>
          </a:prstGeom>
          <a:solidFill>
            <a:srgbClr val="1A3CFA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C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903720" y="2697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happens when you look at WHAT each point accepts, and WHO can access it?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① Recyclable Collection Points (data.gov.hk) — 8,858 points with waste_type and accessibilty_notes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1A3C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Double Trap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lockout → Lower recovery → More waste to landfill</a:t>
            </a:r>
            <a:endParaRPr lang="en-US" sz="1400" dirty="0"/>
          </a:p>
        </p:txBody>
      </p:sp>
      <p:pic>
        <p:nvPicPr>
          <p:cNvPr id="6" name="Image 0" descr="/home/claude/Datahack/visualizations/01_landfill_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34440"/>
            <a:ext cx="886968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① Recyclable Collection Points (8,858 pts, waste_type + access)  ② EPD Waste Statistics 2022 (MSW composition, recovery rates)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1A3C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Complexity Lockout</a:t>
            </a:r>
            <a:endParaRPr lang="en-US" sz="4000" dirty="0"/>
          </a:p>
        </p:txBody>
      </p:sp>
      <p:pic>
        <p:nvPicPr>
          <p:cNvPr id="5" name="Image 0" descr="/home/claude/Datahack/visualizations/02_stream_ine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05840"/>
            <a:ext cx="896112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① Recyclable Collection Points  ② Public Housing Estates (241 estates, population proxy)  ③ Database of Private Buildings (765 — equity comparison)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1A3C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Worst Case: Textile Recycling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2651760" cy="45720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241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behind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estates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2651760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241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estates beyond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60120"/>
            <a:ext cx="265176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241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2.5×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 walk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housing</a:t>
            </a:r>
            <a:endParaRPr lang="en-US" sz="1000" dirty="0"/>
          </a:p>
        </p:txBody>
      </p:sp>
      <p:pic>
        <p:nvPicPr>
          <p:cNvPr id="17" name="Image 0" descr="/home/claude/Datahack/visualizations/03_textiles_deep_d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94560"/>
            <a:ext cx="8961120" cy="23774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① Recyclable Collection Points (746 textile pts, 168 public)  ② Public Housing Estates (241 estates, lat/lon + flat count population proxy)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8B9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Multi-Stream Micro-Hubs — placed by greedy max-coverage algorithm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691640"/>
                <a:gridCol w="1188720"/>
                <a:gridCol w="914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800m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Tat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Kwun Tong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100,980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Cheung Shan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Tsuen Wan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50,220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 Cheong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Sham Shui 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58,590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Wah Fu (I)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Tau Hom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Wong Tai Sin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73,980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Queens Hill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24,030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Ying Tung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 Che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 Tin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Tau Tong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 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 Long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Kowloon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80,190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66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303520" y="1188720"/>
            <a:ext cx="3566160" cy="914400"/>
          </a:xfrm>
          <a:prstGeom prst="rect">
            <a:avLst/>
          </a:prstGeom>
          <a:solidFill>
            <a:srgbClr val="1A236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303520" y="118872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3258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9320" y="1234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98932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estate by composite gap across 5 streams, weighted by landfill tonnage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303520" y="2286000"/>
            <a:ext cx="3566160" cy="914400"/>
          </a:xfrm>
          <a:prstGeom prst="rect">
            <a:avLst/>
          </a:prstGeom>
          <a:solidFill>
            <a:srgbClr val="1A236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303520" y="228600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4231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932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98932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iteratively picks location maximizing pop-weighted coverage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303520" y="3383280"/>
            <a:ext cx="3566160" cy="914400"/>
          </a:xfrm>
          <a:prstGeom prst="rect">
            <a:avLst/>
          </a:prstGeom>
          <a:solidFill>
            <a:srgbClr val="1A236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303520" y="338328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52044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89320" y="3429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989320" y="3749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hub: glass, textiles, batteries, fluorescent lamps, e-waste — 800m catchment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catchment: 486,270 residents across 10 districts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① Collection Points  ② Public Housing Estates  ③ Waste Management Facilities (24 — RTS logistics matching)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1A3C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Measured Impact</a:t>
            </a:r>
            <a:endParaRPr lang="en-US" sz="4000" dirty="0"/>
          </a:p>
        </p:txBody>
      </p:sp>
      <p:pic>
        <p:nvPicPr>
          <p:cNvPr id="5" name="Image 0" descr="/home/claude/Datahack/visualizations/04_hub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60120"/>
            <a:ext cx="896112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023360"/>
            <a:ext cx="64008" cy="777240"/>
          </a:xfrm>
          <a:prstGeom prst="rect">
            <a:avLst/>
          </a:prstGeom>
          <a:solidFill>
            <a:srgbClr val="1A3C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023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Cost-Benefit:  </a:t>
            </a:r>
            <a:pPr indent="0" marL="0">
              <a:buNone/>
            </a:pPr>
            <a:r>
              <a:rPr lang="en-US" sz="1150" dirty="0">
                <a:solidFill>
                  <a:srgbClr val="0A0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HK$20–50M total (vs HK$20–30M for 1 GREEN@ station)  ·  13,300–26,700 tonnes/year diverted  ·  HK$4.9–9.7M/year savings  ·  Payback: 2–10 yrs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All 5 — Collection Points, Public Housing, Private Buildings, Recycling Stations, Waste Management Facilities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1A3C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Multi-Stream Desert Map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— 241 estates × 5 waste streams × 10 proposed hubs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335024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streams &gt;500m (well-served)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1773936"/>
            <a:ext cx="237744" cy="237744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1719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stream &gt;500m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212848"/>
            <a:ext cx="237744" cy="237744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1579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streams &gt;500m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2651760"/>
            <a:ext cx="237744" cy="237744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5968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streams &gt;500m (desert)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090672"/>
            <a:ext cx="237744" cy="237744"/>
          </a:xfrm>
          <a:prstGeom prst="ellipse">
            <a:avLst/>
          </a:prstGeom>
          <a:solidFill>
            <a:srgbClr val="1A3CFA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035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multi-stream hub (800m)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529584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474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GREEN@ premium station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46320" y="128016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1280160"/>
            <a:ext cx="4023360" cy="45720"/>
          </a:xfrm>
          <a:prstGeom prst="rect">
            <a:avLst/>
          </a:prstGeom>
          <a:solidFill>
            <a:srgbClr val="1A3CFA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Toggleable Layers: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0" y="18288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Glass collection points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Textile collection points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Hazardous waste points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Battery collection points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E-Waste collection points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GREEN@ Stations (12)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Management Facilities (24)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Hubs + 800m rings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3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demo: visualizations/05_interactive_map.html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All 5 — Collection Points, Public Housing, Private Buildings, Recycling Stations (12 GREEN@), Waste Mgmt Facilities (24 incl. 13 RTS)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0"/>
          </a:xfrm>
          <a:prstGeom prst="line">
            <a:avLst/>
          </a:prstGeom>
          <a:noFill/>
          <a:ln w="25400">
            <a:solidFill>
              <a:srgbClr val="8B9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 the Loop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731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468880" y="18105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749040" y="1737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glass, textiles &amp; hazardous waste trapped behind private gates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106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4688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0" y="2487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1M+ residents are &gt;500m from public textile recycling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236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468880" y="3310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49040" y="32369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data-optimized placements across 10 districts, 486K catchment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2–10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2468880" y="40599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payback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749040" y="39867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HK$20–50M total — the cost of a single GREEN@ station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  ·  8,858 Points  ·  241 Estates  ·  16 Waste Streams  ·  1 Data-Driven Solution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Bin</dc:title>
  <dc:subject>PptxGenJS Presentation</dc:subject>
  <dc:creator>DataHack 2026 Team</dc:creator>
  <cp:lastModifiedBy>DataHack 2026 Team</cp:lastModifiedBy>
  <cp:revision>1</cp:revision>
  <dcterms:created xsi:type="dcterms:W3CDTF">2026-03-14T09:15:21Z</dcterms:created>
  <dcterms:modified xsi:type="dcterms:W3CDTF">2026-03-14T09:15:21Z</dcterms:modified>
</cp:coreProperties>
</file>